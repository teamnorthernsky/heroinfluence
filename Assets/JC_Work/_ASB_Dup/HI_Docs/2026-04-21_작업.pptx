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75B5A0-1691-498D-AE75-776E81369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7C7A07-A10B-4A74-9505-8ECF74B83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6EE153-D99D-4E8D-9CB7-C5E3BA20B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BD7-FC71-4A3B-9D63-945CFB00C476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2425CD-5EC8-47BE-ABF4-1A31D8C56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674266-2389-441E-BB9F-F5A0BE4B5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CA38-AC13-4EFF-9C18-CB97390C0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659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8752D-5F74-47BA-AEF4-9DA88DB3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AB5068-14F2-4891-826E-DC10E1D41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2E82F5-3611-4122-AAE5-BBC22123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BD7-FC71-4A3B-9D63-945CFB00C476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5A49FB-A98F-4F39-AFFA-4D9C3FD5A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0A09B3-E123-4388-B19E-826984712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CA38-AC13-4EFF-9C18-CB97390C0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738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86957C-4EA9-4F84-B265-C27513281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28E386-2DA9-434E-90D6-844DF2E84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FBD1EC-5C2F-4E07-AB0D-4A91F1D0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BD7-FC71-4A3B-9D63-945CFB00C476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3A2D18-CEAB-4495-A8E8-A9FE4BD42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2D3FCD-DE04-471F-B455-0CE47C331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CA38-AC13-4EFF-9C18-CB97390C0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422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391E4C-3879-418F-8074-2AEB8998F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E43E33-6E35-4A6D-BE14-AB81F199E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C1E4E8-E028-4AC7-A9E6-492A00344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84F47C-277E-46E5-AC4C-511AFA2B1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BD7-FC71-4A3B-9D63-945CFB00C476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CA2846-86DB-40D7-9815-094E2B17D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057BAA-F7E3-46C5-A4D3-B451FCCF3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CA38-AC13-4EFF-9C18-CB97390C0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141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01C3EF-8D11-435C-8E2F-FD92D99FF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F861D5-0E97-4AA6-B914-6BE5EDE0B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B2CD9C-D840-4587-AAA2-57F8BCDB1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34675C-AC88-43F1-8931-11BDE2698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613F76-2136-459B-A16A-933860AB3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9E794F3-405A-48AA-8105-1FF1213AB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BD7-FC71-4A3B-9D63-945CFB00C476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2C5800-7912-4EBB-9736-A654D007B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5B4CC60-8A20-4A28-BC1F-BAF261C89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CA38-AC13-4EFF-9C18-CB97390C0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325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D0FAE3-8582-4B02-A354-1F617DEB7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27BA69-5188-4707-A6F3-878E22FC8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BD7-FC71-4A3B-9D63-945CFB00C476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1B3399-F7C3-43F0-A74F-87EEBDEB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5195A9-248B-4F48-B1CA-B54071C0C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CA38-AC13-4EFF-9C18-CB97390C0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725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897CB93-BD62-4F43-856A-0C742AC2F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BD7-FC71-4A3B-9D63-945CFB00C476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40D48E6-4990-4356-B5C1-4F4CBDCB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4B0D18-4294-4DFD-BCC6-3042944B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CA38-AC13-4EFF-9C18-CB97390C0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75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29A64-65D3-4082-A2AF-7C3FDCB9F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10F129-49C8-4CAF-B360-FDAB475AA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388286-5BCE-40AB-94AB-024BDB7BD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1448F9-523B-4DAA-9E7F-A3714183A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BD7-FC71-4A3B-9D63-945CFB00C476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6D7B0B-96C8-410E-9A5D-0DB24765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68BAC3-155F-4658-A945-8235AE116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CA38-AC13-4EFF-9C18-CB97390C0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8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D0969C-977A-4B37-80FE-5D3843BBC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A3442B-209A-4B35-AAA3-41AE5B0ED6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78FC55-4319-4C5F-9530-3B668091C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DBF274-D70D-4182-B930-6CE25FE9E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BD7-FC71-4A3B-9D63-945CFB00C476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C8A570-786F-49F3-8269-857F1AECB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07B27F-F771-4493-860F-4B7972FD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CA38-AC13-4EFF-9C18-CB97390C0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952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E30BB-6B27-4B29-A344-041FD8B0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B57EDB-F8EC-4F3F-8172-BF7227A74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17EC6D-5BED-449C-8452-8BB7B37E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BD7-FC71-4A3B-9D63-945CFB00C476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DE795A-908E-4156-A6F1-0666321C3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429F1A-2B29-41FC-82A3-E31257A6E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CA38-AC13-4EFF-9C18-CB97390C0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3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3E23FD-6038-4BF7-9C6F-A807DFD9A1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EC508A-DF8B-4613-B2A4-94F3D37C5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32A4FB-38CD-4C74-A1C4-58B8BDA6E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2BD7-FC71-4A3B-9D63-945CFB00C476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A06642-D22C-4A2B-9C0D-125EF23E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18B05A-EB00-4F8D-B437-4E15FD25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CA38-AC13-4EFF-9C18-CB97390C0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33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4D3EBCE-48D9-4623-B648-29EBD800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CD07CF-F6FA-4CC1-A7DF-6BFE9C38B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BBB59B-BB61-4441-92A4-FEE83C192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52BD7-FC71-4A3B-9D63-945CFB00C476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1F0C5B-BA10-466D-BB47-C01814B63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23618B-12A7-4B75-AB5F-9E2663D3B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FCA38-AC13-4EFF-9C18-CB97390C0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48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DE33D-9209-47D6-817F-2C72C5D48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4B20AD-3229-488F-8E54-1845ECBF8A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2026-04-21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925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256C63-B454-4AE9-8C5E-461E343E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2DB1A1-916A-4510-A19F-C5E15BFFD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유닛 </a:t>
            </a:r>
            <a:r>
              <a:rPr lang="en-US" altLang="ko-KR" dirty="0"/>
              <a:t>– </a:t>
            </a:r>
            <a:r>
              <a:rPr lang="ko-KR" altLang="en-US" dirty="0"/>
              <a:t>유닛 그룹 </a:t>
            </a:r>
            <a:r>
              <a:rPr lang="en-US" altLang="ko-KR" dirty="0"/>
              <a:t>– </a:t>
            </a:r>
            <a:r>
              <a:rPr lang="ko-KR" altLang="en-US" dirty="0"/>
              <a:t>부대</a:t>
            </a:r>
            <a:r>
              <a:rPr lang="en-US" altLang="ko-KR" dirty="0"/>
              <a:t>(V2~V3)</a:t>
            </a:r>
            <a:r>
              <a:rPr lang="ko-KR" altLang="en-US" dirty="0"/>
              <a:t> → 유닛 </a:t>
            </a:r>
            <a:r>
              <a:rPr lang="en-US" altLang="ko-KR" dirty="0"/>
              <a:t>– </a:t>
            </a:r>
            <a:r>
              <a:rPr lang="ko-KR" altLang="en-US" dirty="0"/>
              <a:t>부대 구조</a:t>
            </a:r>
            <a:r>
              <a:rPr lang="en-US" altLang="ko-KR" dirty="0"/>
              <a:t>(V1.0)</a:t>
            </a:r>
            <a:r>
              <a:rPr lang="ko-KR" altLang="en-US" dirty="0"/>
              <a:t>로 복귀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C6A0D7A-AC6D-41BE-9F0E-4ADD401BE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03" y="3071471"/>
            <a:ext cx="5167158" cy="310549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C187056-5CA2-48D7-970D-7A6FECD5A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479" y="3309050"/>
            <a:ext cx="2672351" cy="263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62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76275-95BA-4351-A1C5-ABF1E649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C374E1-EB3F-45C6-A514-5B5BA6D9C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호감도 시스템 추가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기본 </a:t>
            </a:r>
            <a:r>
              <a:rPr lang="ko-KR" altLang="en-US" dirty="0" err="1"/>
              <a:t>대미지</a:t>
            </a:r>
            <a:r>
              <a:rPr lang="en-US" altLang="ko-KR" dirty="0"/>
              <a:t> = {</a:t>
            </a:r>
            <a:r>
              <a:rPr lang="ko-KR" altLang="en-US" dirty="0"/>
              <a:t>공격 유닛 공격력 </a:t>
            </a:r>
            <a:r>
              <a:rPr lang="en-US" altLang="ko-KR" dirty="0"/>
              <a:t>– </a:t>
            </a:r>
            <a:r>
              <a:rPr lang="ko-KR" altLang="en-US" dirty="0"/>
              <a:t>피격 유닛 방어력</a:t>
            </a:r>
            <a:r>
              <a:rPr lang="en-US" altLang="ko-KR" dirty="0"/>
              <a:t>} × </a:t>
            </a:r>
            <a:r>
              <a:rPr lang="ko-KR" altLang="en-US" dirty="0"/>
              <a:t>스킬 계수 </a:t>
            </a:r>
            <a:r>
              <a:rPr lang="en-US" altLang="ko-KR" dirty="0"/>
              <a:t>× </a:t>
            </a:r>
            <a:r>
              <a:rPr lang="ko-KR" altLang="en-US" dirty="0">
                <a:solidFill>
                  <a:srgbClr val="FF0000"/>
                </a:solidFill>
              </a:rPr>
              <a:t>현재 호감도 계수 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- </a:t>
            </a:r>
            <a:r>
              <a:rPr lang="ko-KR" altLang="en-US" dirty="0"/>
              <a:t>현재 호감도 계수 </a:t>
            </a:r>
            <a:r>
              <a:rPr lang="en-US" altLang="ko-KR" dirty="0"/>
              <a:t>= </a:t>
            </a:r>
            <a:r>
              <a:rPr lang="ko-KR" altLang="en-US" dirty="0"/>
              <a:t>현재 호감도 </a:t>
            </a:r>
            <a:r>
              <a:rPr lang="en-US" altLang="ko-KR" dirty="0"/>
              <a:t>/ 100</a:t>
            </a:r>
          </a:p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현재 호감도 </a:t>
            </a:r>
            <a:r>
              <a:rPr lang="en-US" altLang="ko-KR" dirty="0"/>
              <a:t>100 </a:t>
            </a:r>
            <a:r>
              <a:rPr lang="ko-KR" altLang="en-US" dirty="0"/>
              <a:t>→ </a:t>
            </a:r>
            <a:r>
              <a:rPr lang="en-US" altLang="ko-KR" dirty="0"/>
              <a:t>1</a:t>
            </a:r>
            <a:r>
              <a:rPr lang="ko-KR" altLang="en-US" dirty="0"/>
              <a:t>배</a:t>
            </a:r>
            <a:r>
              <a:rPr lang="en-US" altLang="ko-KR" dirty="0"/>
              <a:t>, </a:t>
            </a:r>
            <a:r>
              <a:rPr lang="ko-KR" altLang="en-US" dirty="0"/>
              <a:t>최대치 </a:t>
            </a:r>
            <a:r>
              <a:rPr lang="en-US" altLang="ko-KR" dirty="0"/>
              <a:t>200 </a:t>
            </a:r>
            <a:r>
              <a:rPr lang="ko-KR" altLang="en-US" dirty="0"/>
              <a:t>→ </a:t>
            </a:r>
            <a:r>
              <a:rPr lang="en-US" altLang="ko-KR" dirty="0"/>
              <a:t>2</a:t>
            </a:r>
            <a:r>
              <a:rPr lang="ko-KR" altLang="en-US" dirty="0"/>
              <a:t>배</a:t>
            </a:r>
            <a:r>
              <a:rPr lang="en-US" altLang="ko-KR" dirty="0"/>
              <a:t>, </a:t>
            </a:r>
            <a:r>
              <a:rPr lang="ko-KR" altLang="en-US" dirty="0"/>
              <a:t>최소치 </a:t>
            </a:r>
            <a:r>
              <a:rPr lang="en-US" altLang="ko-KR" dirty="0"/>
              <a:t>0 </a:t>
            </a:r>
            <a:r>
              <a:rPr lang="ko-KR" altLang="en-US" dirty="0"/>
              <a:t>→ </a:t>
            </a:r>
            <a:r>
              <a:rPr lang="en-US" altLang="ko-KR" dirty="0"/>
              <a:t>0</a:t>
            </a:r>
            <a:r>
              <a:rPr lang="ko-KR" altLang="en-US" dirty="0"/>
              <a:t>배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스킬마다 호감도 소모치 존재 </a:t>
            </a:r>
            <a:r>
              <a:rPr lang="en-US" altLang="ko-KR" dirty="0"/>
              <a:t>(</a:t>
            </a:r>
            <a:r>
              <a:rPr lang="ko-KR" altLang="en-US" dirty="0"/>
              <a:t>호감도 소모치가 없거나 적은 기본 직업 스킬 </a:t>
            </a:r>
            <a:r>
              <a:rPr lang="en-US" altLang="ko-KR" dirty="0"/>
              <a:t>or </a:t>
            </a:r>
            <a:r>
              <a:rPr lang="ko-KR" altLang="en-US" dirty="0"/>
              <a:t>호감도 소모치 높고 </a:t>
            </a:r>
            <a:r>
              <a:rPr lang="ko-KR" altLang="en-US" dirty="0" err="1"/>
              <a:t>대미지</a:t>
            </a:r>
            <a:r>
              <a:rPr lang="ko-KR" altLang="en-US" dirty="0"/>
              <a:t> 강한 무기 스킬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559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B56C9-8176-402E-B26A-0B9F438C8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1CBE05-BC4F-47C1-871A-EDB704521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대미지</a:t>
            </a:r>
            <a:r>
              <a:rPr lang="ko-KR" altLang="en-US" dirty="0"/>
              <a:t> 계산 공식</a:t>
            </a:r>
            <a:r>
              <a:rPr lang="en-US" altLang="ko-KR" dirty="0"/>
              <a:t>: </a:t>
            </a:r>
            <a:r>
              <a:rPr lang="ko-KR" altLang="en-US" dirty="0"/>
              <a:t>최종 </a:t>
            </a:r>
            <a:r>
              <a:rPr lang="ko-KR" altLang="en-US" dirty="0" err="1"/>
              <a:t>대미지</a:t>
            </a:r>
            <a:r>
              <a:rPr lang="ko-KR" altLang="en-US" dirty="0"/>
              <a:t> 계산 후</a:t>
            </a:r>
            <a:r>
              <a:rPr lang="en-US" altLang="ko-KR" dirty="0"/>
              <a:t> </a:t>
            </a:r>
            <a:r>
              <a:rPr lang="ko-KR" altLang="en-US" dirty="0"/>
              <a:t>최소 </a:t>
            </a:r>
            <a:r>
              <a:rPr lang="ko-KR" altLang="en-US" dirty="0" err="1"/>
              <a:t>대미지</a:t>
            </a:r>
            <a:r>
              <a:rPr lang="en-US" altLang="ko-KR" dirty="0"/>
              <a:t>(2)</a:t>
            </a:r>
            <a:r>
              <a:rPr lang="ko-KR" altLang="en-US" dirty="0"/>
              <a:t> 및 정수화 반올림 추가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ko-KR" altLang="en-US" dirty="0"/>
              <a:t>최종 </a:t>
            </a:r>
            <a:r>
              <a:rPr lang="ko-KR" altLang="en-US" dirty="0" err="1"/>
              <a:t>대미지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미만 → </a:t>
            </a:r>
            <a:r>
              <a:rPr lang="en-US" altLang="ko-KR" dirty="0"/>
              <a:t>2</a:t>
            </a:r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ko-KR" altLang="en-US" dirty="0"/>
              <a:t>최종 </a:t>
            </a:r>
            <a:r>
              <a:rPr lang="ko-KR" altLang="en-US" dirty="0" err="1"/>
              <a:t>대미지</a:t>
            </a:r>
            <a:r>
              <a:rPr lang="ko-KR" altLang="en-US" dirty="0"/>
              <a:t> </a:t>
            </a:r>
            <a:r>
              <a:rPr lang="en-US" altLang="ko-KR" dirty="0" err="1"/>
              <a:t>x.lmnop</a:t>
            </a:r>
            <a:r>
              <a:rPr lang="en-US" altLang="ko-KR" dirty="0"/>
              <a:t> </a:t>
            </a:r>
            <a:r>
              <a:rPr lang="ko-KR" altLang="en-US" dirty="0"/>
              <a:t>→ 소수점 첫 자리에서 반올림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기본 </a:t>
            </a:r>
            <a:r>
              <a:rPr lang="ko-KR" altLang="en-US" dirty="0" err="1"/>
              <a:t>대미지</a:t>
            </a:r>
            <a:r>
              <a:rPr lang="ko-KR" altLang="en-US" dirty="0"/>
              <a:t> 계산 → 부가 공식 처리</a:t>
            </a:r>
            <a:r>
              <a:rPr lang="en-US" altLang="ko-KR" dirty="0"/>
              <a:t>(</a:t>
            </a:r>
            <a:r>
              <a:rPr lang="ko-KR" altLang="en-US" dirty="0"/>
              <a:t>피해 경감</a:t>
            </a:r>
            <a:r>
              <a:rPr lang="en-US" altLang="ko-KR" dirty="0"/>
              <a:t>, </a:t>
            </a:r>
            <a:r>
              <a:rPr lang="ko-KR" altLang="en-US" dirty="0"/>
              <a:t>치명타</a:t>
            </a:r>
            <a:r>
              <a:rPr lang="en-US" altLang="ko-KR" dirty="0"/>
              <a:t>, </a:t>
            </a:r>
            <a:r>
              <a:rPr lang="ko-KR" altLang="en-US" dirty="0"/>
              <a:t>진형 효과 등</a:t>
            </a:r>
            <a:r>
              <a:rPr lang="en-US" altLang="ko-KR" dirty="0"/>
              <a:t>)</a:t>
            </a:r>
            <a:r>
              <a:rPr lang="ko-KR" altLang="en-US" dirty="0"/>
              <a:t> → 최소 </a:t>
            </a:r>
            <a:r>
              <a:rPr lang="ko-KR" altLang="en-US" dirty="0" err="1"/>
              <a:t>대미지</a:t>
            </a:r>
            <a:r>
              <a:rPr lang="ko-KR" altLang="en-US" dirty="0"/>
              <a:t> 보정 → 최종 결과 반올림</a:t>
            </a:r>
          </a:p>
        </p:txBody>
      </p:sp>
    </p:spTree>
    <p:extLst>
      <p:ext uri="{BB962C8B-B14F-4D97-AF65-F5344CB8AC3E}">
        <p14:creationId xmlns:p14="http://schemas.microsoft.com/office/powerpoint/2010/main" val="1368075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4C144-BFA2-452A-9A98-03A44F515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7119A7-D398-4279-80E1-88E7C197C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보상 시스템</a:t>
            </a:r>
            <a:r>
              <a:rPr lang="en-US" altLang="ko-KR" dirty="0"/>
              <a:t>: </a:t>
            </a:r>
            <a:r>
              <a:rPr lang="ko-KR" altLang="en-US" dirty="0"/>
              <a:t>무기 보상 → 호감도 보상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특정 </a:t>
            </a:r>
            <a:r>
              <a:rPr lang="ko-KR" altLang="en-US" dirty="0" err="1"/>
              <a:t>랭크업</a:t>
            </a:r>
            <a:r>
              <a:rPr lang="en-US" altLang="ko-KR" dirty="0"/>
              <a:t>(</a:t>
            </a:r>
            <a:r>
              <a:rPr lang="ko-KR" altLang="en-US" dirty="0" err="1"/>
              <a:t>레벨업</a:t>
            </a:r>
            <a:r>
              <a:rPr lang="en-US" altLang="ko-KR" dirty="0"/>
              <a:t>)</a:t>
            </a:r>
            <a:r>
              <a:rPr lang="ko-KR" altLang="en-US" dirty="0"/>
              <a:t>마다 최대 호감도 증가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전투 승리 → 모든 유닛 최대 호감도의 </a:t>
            </a:r>
            <a:r>
              <a:rPr lang="en-US" altLang="ko-KR" dirty="0"/>
              <a:t>10% </a:t>
            </a:r>
            <a:r>
              <a:rPr lang="ko-KR" altLang="en-US" dirty="0"/>
              <a:t>증가</a:t>
            </a:r>
            <a:endParaRPr lang="en-US" altLang="ko-KR" dirty="0"/>
          </a:p>
          <a:p>
            <a:r>
              <a:rPr lang="ko-KR" altLang="en-US" dirty="0"/>
              <a:t>전투 패배 → 모든 유닛 최대 호감도의 </a:t>
            </a:r>
            <a:r>
              <a:rPr lang="en-US" altLang="ko-KR" dirty="0"/>
              <a:t>10% </a:t>
            </a:r>
            <a:r>
              <a:rPr lang="ko-KR" altLang="en-US" dirty="0"/>
              <a:t>감소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4169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0E2B54-3FAD-4EFF-AE9F-40EB058DA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38A13A-0FC2-4FE0-BEC5-C75ADAB4C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/>
              <a:t>적 </a:t>
            </a:r>
            <a:r>
              <a:rPr lang="en-US" altLang="ko-KR" dirty="0"/>
              <a:t>AI: </a:t>
            </a:r>
            <a:r>
              <a:rPr lang="ko-KR" altLang="en-US" dirty="0"/>
              <a:t>논의한 대로 자원</a:t>
            </a:r>
            <a:r>
              <a:rPr lang="en-US" altLang="ko-KR" dirty="0"/>
              <a:t>/</a:t>
            </a:r>
            <a:r>
              <a:rPr lang="ko-KR" altLang="en-US" dirty="0"/>
              <a:t>플레이어 중 우선순위 판단만</a:t>
            </a:r>
          </a:p>
          <a:p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BB0BA52-1018-4C88-9D80-43E45E2CC4B1}"/>
              </a:ext>
            </a:extLst>
          </p:cNvPr>
          <p:cNvSpPr/>
          <p:nvPr/>
        </p:nvSpPr>
        <p:spPr>
          <a:xfrm>
            <a:off x="1870842" y="4156842"/>
            <a:ext cx="1392620" cy="7304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적 부대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E8F6ADD-1A0A-4517-A541-E23C7478552C}"/>
              </a:ext>
            </a:extLst>
          </p:cNvPr>
          <p:cNvSpPr/>
          <p:nvPr/>
        </p:nvSpPr>
        <p:spPr>
          <a:xfrm>
            <a:off x="761999" y="2867190"/>
            <a:ext cx="3599793" cy="3360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인식 범위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C11AAB0-32CB-4F27-8574-264ECBA2DD61}"/>
              </a:ext>
            </a:extLst>
          </p:cNvPr>
          <p:cNvSpPr/>
          <p:nvPr/>
        </p:nvSpPr>
        <p:spPr>
          <a:xfrm>
            <a:off x="982717" y="3962399"/>
            <a:ext cx="651641" cy="6043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자원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DD45681-23CE-4C4D-8060-359F912C0540}"/>
              </a:ext>
            </a:extLst>
          </p:cNvPr>
          <p:cNvSpPr/>
          <p:nvPr/>
        </p:nvSpPr>
        <p:spPr>
          <a:xfrm>
            <a:off x="3179380" y="3610302"/>
            <a:ext cx="819806" cy="7304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생산지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41F64E8-3176-496A-BAC3-C664115DB025}"/>
              </a:ext>
            </a:extLst>
          </p:cNvPr>
          <p:cNvSpPr/>
          <p:nvPr/>
        </p:nvSpPr>
        <p:spPr>
          <a:xfrm>
            <a:off x="1634358" y="5217155"/>
            <a:ext cx="704193" cy="6299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유저</a:t>
            </a:r>
            <a:endParaRPr lang="en-US" altLang="ko-KR" sz="1200" dirty="0"/>
          </a:p>
          <a:p>
            <a:pPr algn="ctr"/>
            <a:r>
              <a:rPr lang="ko-KR" altLang="en-US" sz="1200" dirty="0"/>
              <a:t>부대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6D721B9-6DD7-49EC-AE80-17865CA43EB2}"/>
              </a:ext>
            </a:extLst>
          </p:cNvPr>
          <p:cNvSpPr/>
          <p:nvPr/>
        </p:nvSpPr>
        <p:spPr>
          <a:xfrm>
            <a:off x="3053255" y="5083883"/>
            <a:ext cx="704193" cy="6299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유저</a:t>
            </a:r>
            <a:endParaRPr lang="en-US" altLang="ko-KR" sz="1200" dirty="0"/>
          </a:p>
          <a:p>
            <a:pPr algn="ctr"/>
            <a:r>
              <a:rPr lang="ko-KR" altLang="en-US" sz="1200" dirty="0"/>
              <a:t>건물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ED4B22D-ACE1-40C0-AF92-38A23C141898}"/>
              </a:ext>
            </a:extLst>
          </p:cNvPr>
          <p:cNvSpPr/>
          <p:nvPr/>
        </p:nvSpPr>
        <p:spPr>
          <a:xfrm>
            <a:off x="6083957" y="4942168"/>
            <a:ext cx="704193" cy="6299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유저</a:t>
            </a:r>
            <a:endParaRPr lang="en-US" altLang="ko-KR" sz="1200" dirty="0"/>
          </a:p>
          <a:p>
            <a:pPr algn="ctr"/>
            <a:r>
              <a:rPr lang="ko-KR" altLang="en-US" sz="1200" dirty="0"/>
              <a:t>부대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D28AFAF-FB2C-4487-A6B3-4A90AD279CE1}"/>
              </a:ext>
            </a:extLst>
          </p:cNvPr>
          <p:cNvSpPr/>
          <p:nvPr/>
        </p:nvSpPr>
        <p:spPr>
          <a:xfrm>
            <a:off x="6975366" y="4928026"/>
            <a:ext cx="704193" cy="6299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유저</a:t>
            </a:r>
            <a:endParaRPr lang="en-US" altLang="ko-KR" sz="1200" dirty="0"/>
          </a:p>
          <a:p>
            <a:pPr algn="ctr"/>
            <a:r>
              <a:rPr lang="ko-KR" altLang="en-US" sz="1200" dirty="0"/>
              <a:t>건물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4C4710D-AD6E-405D-A65A-60F9DDEF4D63}"/>
              </a:ext>
            </a:extLst>
          </p:cNvPr>
          <p:cNvSpPr/>
          <p:nvPr/>
        </p:nvSpPr>
        <p:spPr>
          <a:xfrm>
            <a:off x="5957393" y="2884708"/>
            <a:ext cx="651641" cy="6043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자원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8254B61-1332-444A-BF98-DC1B2752179E}"/>
              </a:ext>
            </a:extLst>
          </p:cNvPr>
          <p:cNvSpPr/>
          <p:nvPr/>
        </p:nvSpPr>
        <p:spPr>
          <a:xfrm>
            <a:off x="6754866" y="2859089"/>
            <a:ext cx="704193" cy="6299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생산지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6CA4A9B-59D7-4D8B-94C8-C664D323A783}"/>
              </a:ext>
            </a:extLst>
          </p:cNvPr>
          <p:cNvCxnSpPr>
            <a:cxnSpLocks/>
          </p:cNvCxnSpPr>
          <p:nvPr/>
        </p:nvCxnSpPr>
        <p:spPr>
          <a:xfrm>
            <a:off x="5293492" y="4133149"/>
            <a:ext cx="5793608" cy="954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F1601605-28A8-4397-8F4D-7A31863F460B}"/>
              </a:ext>
            </a:extLst>
          </p:cNvPr>
          <p:cNvSpPr/>
          <p:nvPr/>
        </p:nvSpPr>
        <p:spPr>
          <a:xfrm>
            <a:off x="8663701" y="3005957"/>
            <a:ext cx="651641" cy="6043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자원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4FC6384-527C-4146-8F71-43250251466C}"/>
              </a:ext>
            </a:extLst>
          </p:cNvPr>
          <p:cNvSpPr/>
          <p:nvPr/>
        </p:nvSpPr>
        <p:spPr>
          <a:xfrm>
            <a:off x="10168977" y="3055878"/>
            <a:ext cx="704193" cy="6299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생산지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8FD218-99D0-4D30-A0AE-7EE5CE100467}"/>
              </a:ext>
            </a:extLst>
          </p:cNvPr>
          <p:cNvSpPr txBox="1"/>
          <p:nvPr/>
        </p:nvSpPr>
        <p:spPr>
          <a:xfrm>
            <a:off x="9452358" y="3005957"/>
            <a:ext cx="588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&lt;</a:t>
            </a:r>
            <a:endParaRPr lang="ko-KR" altLang="en-US" sz="3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F47982-BCEA-4E81-A545-AFD1B948DE1E}"/>
              </a:ext>
            </a:extLst>
          </p:cNvPr>
          <p:cNvSpPr txBox="1"/>
          <p:nvPr/>
        </p:nvSpPr>
        <p:spPr>
          <a:xfrm>
            <a:off x="9445187" y="4547284"/>
            <a:ext cx="588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&lt;</a:t>
            </a:r>
            <a:endParaRPr lang="ko-KR" altLang="en-US" sz="3600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B1513ED-0D9D-470E-A200-94552A206433}"/>
              </a:ext>
            </a:extLst>
          </p:cNvPr>
          <p:cNvSpPr/>
          <p:nvPr/>
        </p:nvSpPr>
        <p:spPr>
          <a:xfrm>
            <a:off x="10205545" y="4601113"/>
            <a:ext cx="704193" cy="6299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유저</a:t>
            </a:r>
            <a:endParaRPr lang="en-US" altLang="ko-KR" sz="1200" dirty="0"/>
          </a:p>
          <a:p>
            <a:pPr algn="ctr"/>
            <a:r>
              <a:rPr lang="ko-KR" altLang="en-US" sz="1200" dirty="0"/>
              <a:t>건물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ECBD705-E04B-4813-B000-3FDBF345C040}"/>
              </a:ext>
            </a:extLst>
          </p:cNvPr>
          <p:cNvSpPr/>
          <p:nvPr/>
        </p:nvSpPr>
        <p:spPr>
          <a:xfrm>
            <a:off x="8553778" y="4631230"/>
            <a:ext cx="704193" cy="6310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유저</a:t>
            </a:r>
            <a:endParaRPr lang="en-US" altLang="ko-KR" sz="1200" dirty="0"/>
          </a:p>
          <a:p>
            <a:pPr algn="ctr"/>
            <a:r>
              <a:rPr lang="ko-KR" altLang="en-US" sz="1200" dirty="0"/>
              <a:t>부대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FA54BB7-6309-494F-8DCC-9896CAED6DE4}"/>
              </a:ext>
            </a:extLst>
          </p:cNvPr>
          <p:cNvCxnSpPr>
            <a:cxnSpLocks/>
          </p:cNvCxnSpPr>
          <p:nvPr/>
        </p:nvCxnSpPr>
        <p:spPr>
          <a:xfrm>
            <a:off x="5221506" y="5692926"/>
            <a:ext cx="603069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25CECF0B-3A80-4DE2-936E-D10A83D8B638}"/>
              </a:ext>
            </a:extLst>
          </p:cNvPr>
          <p:cNvSpPr/>
          <p:nvPr/>
        </p:nvSpPr>
        <p:spPr>
          <a:xfrm>
            <a:off x="7322645" y="6123555"/>
            <a:ext cx="704193" cy="6299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유저</a:t>
            </a:r>
            <a:endParaRPr lang="en-US" altLang="ko-KR" sz="1200" dirty="0"/>
          </a:p>
          <a:p>
            <a:pPr algn="ctr"/>
            <a:r>
              <a:rPr lang="ko-KR" altLang="en-US" sz="1200" dirty="0"/>
              <a:t>건물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6D31F4-D9A2-4944-B1AD-CB71EB0063AD}"/>
              </a:ext>
            </a:extLst>
          </p:cNvPr>
          <p:cNvSpPr txBox="1"/>
          <p:nvPr/>
        </p:nvSpPr>
        <p:spPr>
          <a:xfrm>
            <a:off x="4645353" y="5994400"/>
            <a:ext cx="1834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인식 범위 내 내상이 없는 경우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A72FBC-667B-4F92-AD06-7ECCBFFD1F61}"/>
              </a:ext>
            </a:extLst>
          </p:cNvPr>
          <p:cNvSpPr txBox="1"/>
          <p:nvPr/>
        </p:nvSpPr>
        <p:spPr>
          <a:xfrm>
            <a:off x="4645353" y="2479323"/>
            <a:ext cx="4186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인식 범위 내 대상이 여럿 있는 경우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E8A9E09-CBCC-4F39-A23E-B48CA4C914D5}"/>
              </a:ext>
            </a:extLst>
          </p:cNvPr>
          <p:cNvSpPr/>
          <p:nvPr/>
        </p:nvSpPr>
        <p:spPr>
          <a:xfrm>
            <a:off x="4864100" y="3610302"/>
            <a:ext cx="1593849" cy="10314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자원</a:t>
            </a:r>
            <a:r>
              <a:rPr lang="en-US" altLang="ko-KR" dirty="0"/>
              <a:t>/</a:t>
            </a:r>
            <a:r>
              <a:rPr lang="ko-KR" altLang="en-US" dirty="0"/>
              <a:t>전투 </a:t>
            </a:r>
            <a:endParaRPr lang="en-US" altLang="ko-KR" dirty="0"/>
          </a:p>
          <a:p>
            <a:pPr algn="ctr"/>
            <a:r>
              <a:rPr lang="ko-KR" altLang="en-US" dirty="0"/>
              <a:t>확률적 타깃</a:t>
            </a:r>
          </a:p>
        </p:txBody>
      </p:sp>
    </p:spTree>
    <p:extLst>
      <p:ext uri="{BB962C8B-B14F-4D97-AF65-F5344CB8AC3E}">
        <p14:creationId xmlns:p14="http://schemas.microsoft.com/office/powerpoint/2010/main" val="517084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249</Words>
  <Application>Microsoft Office PowerPoint</Application>
  <PresentationFormat>와이드스크린</PresentationFormat>
  <Paragraphs>55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k2104200016</dc:creator>
  <cp:lastModifiedBy>user</cp:lastModifiedBy>
  <cp:revision>6</cp:revision>
  <dcterms:created xsi:type="dcterms:W3CDTF">2026-04-21T01:07:15Z</dcterms:created>
  <dcterms:modified xsi:type="dcterms:W3CDTF">2026-04-21T06:20:18Z</dcterms:modified>
</cp:coreProperties>
</file>